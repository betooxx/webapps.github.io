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modern_3d_illustrated_cybersecurity_codin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041428">
              <a:alpha val="94000"/>
            </a:srgbClr>
          </a:solidFill>
          <a:ln w="12700">
            <a:solidFill>
              <a:srgbClr val="04142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40080" y="640080"/>
            <a:ext cx="2011680" cy="310896"/>
          </a:xfrm>
          <a:prstGeom prst="roundRect">
            <a:avLst>
              <a:gd name="adj" fmla="val 14706"/>
            </a:avLst>
          </a:prstGeom>
          <a:solidFill>
            <a:srgbClr val="27E0B3">
              <a:alpha val="95000"/>
            </a:srgbClr>
          </a:solidFill>
          <a:ln w="12700">
            <a:solidFill>
              <a:srgbClr val="27E0B3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49808" y="713232"/>
            <a:ext cx="1792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A2D"/>
                </a:solidFill>
              </a:rPr>
              <a:t>Práctica universitaria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621792" y="12801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 Applications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658368" y="1901952"/>
            <a:ext cx="4754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BFEAFF"/>
                </a:solidFill>
              </a:rPr>
              <a:t>Seguridad, auditoría y análisis de vulnerabilidades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58368" y="2697480"/>
            <a:ext cx="4023360" cy="0"/>
          </a:xfrm>
          <a:prstGeom prst="line">
            <a:avLst/>
          </a:prstGeom>
          <a:noFill/>
          <a:ln w="27940">
            <a:solidFill>
              <a:srgbClr val="27E0B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29718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CEFFF"/>
                </a:solidFill>
              </a:rPr>
              <a:t>Caso práctico: aplicación vulnerable vs. aplicación segura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58368" y="6035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C8E8"/>
                </a:solidFill>
              </a:rPr>
              <a:t>Seguridad y Auditoría de Sistemas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E0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APPLICATIONS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es una aplicación web?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201400" cy="0"/>
          </a:xfrm>
          <a:prstGeom prst="line">
            <a:avLst/>
          </a:prstGeom>
          <a:noFill/>
          <a:ln w="9525">
            <a:solidFill>
              <a:srgbClr val="275277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25880"/>
            <a:ext cx="484632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DCEFFF"/>
                </a:solidFill>
              </a:rPr>
              <a:t>• Sistema accesible desde un navegador mediante HTTP/HTTPS.
</a:t>
            </a:r>
            <a:pPr indent="0" marL="0">
              <a:buNone/>
            </a:pPr>
            <a:r>
              <a:rPr lang="en-US" sz="1450" dirty="0">
                <a:solidFill>
                  <a:srgbClr val="DCEFFF"/>
                </a:solidFill>
              </a:rPr>
              <a:t>• Combina interfaz, lógica de negocio, APIs y base de datos.
</a:t>
            </a:r>
            <a:pPr indent="0" marL="0">
              <a:buNone/>
            </a:pPr>
            <a:r>
              <a:rPr lang="en-US" sz="1450" dirty="0">
                <a:solidFill>
                  <a:srgbClr val="DCEFFF"/>
                </a:solidFill>
              </a:rPr>
              <a:t>• Puede manejar usuarios, sesiones, archivos, pagos e información sensible.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1965960" y="4160520"/>
            <a:ext cx="1920240" cy="0"/>
          </a:xfrm>
          <a:prstGeom prst="line">
            <a:avLst/>
          </a:prstGeom>
          <a:noFill/>
          <a:ln w="25400">
            <a:solidFill>
              <a:srgbClr val="79D7FF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120640" y="4160520"/>
            <a:ext cx="1965960" cy="0"/>
          </a:xfrm>
          <a:prstGeom prst="line">
            <a:avLst/>
          </a:prstGeom>
          <a:noFill/>
          <a:ln w="25400">
            <a:solidFill>
              <a:srgbClr val="79D7FF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302752" y="4160520"/>
            <a:ext cx="1664208" cy="0"/>
          </a:xfrm>
          <a:prstGeom prst="line">
            <a:avLst/>
          </a:prstGeom>
          <a:noFill/>
          <a:ln w="25400">
            <a:solidFill>
              <a:srgbClr val="79D7F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85800" y="3493008"/>
            <a:ext cx="1600200" cy="1325880"/>
          </a:xfrm>
          <a:prstGeom prst="roundRect">
            <a:avLst>
              <a:gd name="adj" fmla="val 9655"/>
            </a:avLst>
          </a:prstGeom>
          <a:solidFill>
            <a:srgbClr val="FFFFFF">
              <a:alpha val="97000"/>
            </a:srgbClr>
          </a:solidFill>
          <a:ln w="16510">
            <a:solidFill>
              <a:srgbClr val="27E0B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3621024"/>
            <a:ext cx="1453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Usuario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3816" y="3950208"/>
            <a:ext cx="1344168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41506A"/>
                </a:solidFill>
              </a:rPr>
              <a:t>Navegador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1506A"/>
                </a:solidFill>
              </a:rPr>
              <a:t>Chrome / Edge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86200" y="3493008"/>
            <a:ext cx="1600200" cy="1325880"/>
          </a:xfrm>
          <a:prstGeom prst="roundRect">
            <a:avLst>
              <a:gd name="adj" fmla="val 9655"/>
            </a:avLst>
          </a:prstGeom>
          <a:solidFill>
            <a:srgbClr val="FFFFFF">
              <a:alpha val="97000"/>
            </a:srgbClr>
          </a:solidFill>
          <a:ln w="16510">
            <a:solidFill>
              <a:srgbClr val="23C7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59352" y="3621024"/>
            <a:ext cx="1453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Frontend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014216" y="3950208"/>
            <a:ext cx="1344168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41506A"/>
                </a:solidFill>
              </a:rPr>
              <a:t>HTML, CSS, JS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1506A"/>
                </a:solidFill>
              </a:rPr>
              <a:t>formularios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086600" y="3493008"/>
            <a:ext cx="1600200" cy="1325880"/>
          </a:xfrm>
          <a:prstGeom prst="roundRect">
            <a:avLst>
              <a:gd name="adj" fmla="val 9655"/>
            </a:avLst>
          </a:prstGeom>
          <a:solidFill>
            <a:srgbClr val="FFFFFF">
              <a:alpha val="97000"/>
            </a:srgbClr>
          </a:solidFill>
          <a:ln w="1651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59752" y="3621024"/>
            <a:ext cx="1453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Backend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214616" y="3950208"/>
            <a:ext cx="1344168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41506A"/>
                </a:solidFill>
              </a:rPr>
              <a:t>Reglas, sesión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1506A"/>
                </a:solidFill>
              </a:rPr>
              <a:t>validaciones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829800" y="3493008"/>
            <a:ext cx="1600200" cy="1325880"/>
          </a:xfrm>
          <a:prstGeom prst="roundRect">
            <a:avLst>
              <a:gd name="adj" fmla="val 9655"/>
            </a:avLst>
          </a:prstGeom>
          <a:solidFill>
            <a:srgbClr val="FFFFFF">
              <a:alpha val="97000"/>
            </a:srgbClr>
          </a:solidFill>
          <a:ln w="16510">
            <a:solidFill>
              <a:srgbClr val="77D66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02952" y="3621024"/>
            <a:ext cx="1453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Datos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957816" y="3950208"/>
            <a:ext cx="1344168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41506A"/>
                </a:solidFill>
              </a:rPr>
              <a:t>BD, archivos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41506A"/>
                </a:solidFill>
              </a:rPr>
              <a:t>logs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011680" y="53492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La seguridad debe revisarse en cada capa, no solo en el servidor.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02920" y="6483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B7D8"/>
                </a:solidFill>
              </a:rPr>
              <a:t>Seguridad y Auditoría de Sistemas  •  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7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E0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APPLICATIONS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son objetivo de ataques?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201400" cy="0"/>
          </a:xfrm>
          <a:prstGeom prst="line">
            <a:avLst/>
          </a:prstGeom>
          <a:noFill/>
          <a:ln w="9525">
            <a:solidFill>
              <a:srgbClr val="275277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3291840" cy="1508760"/>
          </a:xfrm>
          <a:prstGeom prst="roundRect">
            <a:avLst>
              <a:gd name="adj" fmla="val 7273"/>
            </a:avLst>
          </a:prstGeom>
          <a:solidFill>
            <a:srgbClr val="0E2A44"/>
          </a:solidFill>
          <a:ln w="8890">
            <a:solidFill>
              <a:srgbClr val="275277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25880"/>
            <a:ext cx="73152" cy="150876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27048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Datos expuestos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1920240"/>
            <a:ext cx="288036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DCEFFF"/>
                </a:solidFill>
              </a:rPr>
              <a:t>Usuarios, correos, contraseñas, historiales, tokens y datos financieros.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4434840" y="1325880"/>
            <a:ext cx="3291840" cy="1508760"/>
          </a:xfrm>
          <a:prstGeom prst="roundRect">
            <a:avLst>
              <a:gd name="adj" fmla="val 7273"/>
            </a:avLst>
          </a:prstGeom>
          <a:solidFill>
            <a:srgbClr val="0E2A44"/>
          </a:solidFill>
          <a:ln w="8890">
            <a:solidFill>
              <a:srgbClr val="275277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325880"/>
            <a:ext cx="73152" cy="15087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527048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Acceso desde Internet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1920240"/>
            <a:ext cx="288036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DCEFFF"/>
                </a:solidFill>
              </a:rPr>
              <a:t>La app está disponible para clientes… pero también para atacantes.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8229600" y="1325880"/>
            <a:ext cx="3291840" cy="1508760"/>
          </a:xfrm>
          <a:prstGeom prst="roundRect">
            <a:avLst>
              <a:gd name="adj" fmla="val 7273"/>
            </a:avLst>
          </a:prstGeom>
          <a:solidFill>
            <a:srgbClr val="0E2A44"/>
          </a:solidFill>
          <a:ln w="8890">
            <a:solidFill>
              <a:srgbClr val="275277">
                <a:alpha val="7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1325880"/>
            <a:ext cx="73152" cy="15087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58200" y="1527048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Errores frecuentes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58200" y="1920240"/>
            <a:ext cx="2880360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DCEFFF"/>
                </a:solidFill>
              </a:rPr>
              <a:t>Configuración débil, validaciones faltantes y dependencias desactualizadas.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2286000" y="3337560"/>
            <a:ext cx="1737360" cy="978408"/>
          </a:xfrm>
          <a:prstGeom prst="line">
            <a:avLst/>
          </a:prstGeom>
          <a:noFill/>
          <a:ln w="25400">
            <a:solidFill>
              <a:srgbClr val="FF4B4B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080760" y="3337560"/>
            <a:ext cx="0" cy="978408"/>
          </a:xfrm>
          <a:prstGeom prst="line">
            <a:avLst/>
          </a:prstGeom>
          <a:noFill/>
          <a:ln w="25400">
            <a:solidFill>
              <a:srgbClr val="FFD166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875520" y="3337560"/>
            <a:ext cx="-1691640" cy="978408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611880" y="4315968"/>
            <a:ext cx="4937760" cy="1143000"/>
          </a:xfrm>
          <a:prstGeom prst="roundRect">
            <a:avLst>
              <a:gd name="adj" fmla="val 14400"/>
            </a:avLst>
          </a:prstGeom>
          <a:solidFill>
            <a:srgbClr val="FFFFFF"/>
          </a:solidFill>
          <a:ln w="15240">
            <a:solidFill>
              <a:srgbClr val="27E0B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0" y="452628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033"/>
                </a:solidFill>
              </a:rPr>
              <a:t>Riesgo real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931920" y="490118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41506A"/>
                </a:solidFill>
              </a:rPr>
              <a:t>Pérdida de información, daño reputacional, fraude y sanciones.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2920" y="6483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B7D8"/>
                </a:solidFill>
              </a:rPr>
              <a:t>Seguridad y Auditoría de Sistemas  •  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dark_moody_cyber_security_concept_scene_in_a_fu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286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E0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APPLICATIONS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02920" y="43891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Superficie de ataque de una web app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02920" y="1024128"/>
            <a:ext cx="11201400" cy="0"/>
          </a:xfrm>
          <a:prstGeom prst="line">
            <a:avLst/>
          </a:prstGeom>
          <a:noFill/>
          <a:ln w="9525">
            <a:solidFill>
              <a:srgbClr val="275277">
                <a:alpha val="80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1417320"/>
            <a:ext cx="2880360" cy="914400"/>
          </a:xfrm>
          <a:prstGeom prst="roundRect">
            <a:avLst>
              <a:gd name="adj" fmla="val 12000"/>
            </a:avLst>
          </a:prstGeom>
          <a:solidFill>
            <a:srgbClr val="0B1523">
              <a:alpha val="98000"/>
            </a:srgbClr>
          </a:solidFill>
          <a:ln w="8890">
            <a:solidFill>
              <a:srgbClr val="275277">
                <a:alpha val="7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417320"/>
            <a:ext cx="73152" cy="91440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161848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Login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2011680"/>
            <a:ext cx="24688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DCEFFF"/>
                </a:solidFill>
              </a:rPr>
              <a:t>Credenciales débiles, fuerza bruta, sesión insegura.</a:t>
            </a:r>
            <a:endParaRPr lang="en-US" sz="1130" dirty="0"/>
          </a:p>
        </p:txBody>
      </p:sp>
      <p:sp>
        <p:nvSpPr>
          <p:cNvPr id="10" name="Shape 7"/>
          <p:cNvSpPr/>
          <p:nvPr/>
        </p:nvSpPr>
        <p:spPr>
          <a:xfrm>
            <a:off x="640080" y="2606040"/>
            <a:ext cx="2880360" cy="914400"/>
          </a:xfrm>
          <a:prstGeom prst="roundRect">
            <a:avLst>
              <a:gd name="adj" fmla="val 12000"/>
            </a:avLst>
          </a:prstGeom>
          <a:solidFill>
            <a:srgbClr val="0B1523">
              <a:alpha val="98000"/>
            </a:srgbClr>
          </a:solidFill>
          <a:ln w="8890">
            <a:solidFill>
              <a:srgbClr val="275277">
                <a:alpha val="7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2606040"/>
            <a:ext cx="73152" cy="9144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8072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Formularios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68680" y="3200400"/>
            <a:ext cx="24688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DCEFFF"/>
                </a:solidFill>
              </a:rPr>
              <a:t>Entradas sin validar: XSS, SQLi, subida peligrosa.</a:t>
            </a:r>
            <a:endParaRPr lang="en-US" sz="1130" dirty="0"/>
          </a:p>
        </p:txBody>
      </p:sp>
      <p:sp>
        <p:nvSpPr>
          <p:cNvPr id="14" name="Shape 11"/>
          <p:cNvSpPr/>
          <p:nvPr/>
        </p:nvSpPr>
        <p:spPr>
          <a:xfrm>
            <a:off x="640080" y="3794760"/>
            <a:ext cx="2880360" cy="914400"/>
          </a:xfrm>
          <a:prstGeom prst="roundRect">
            <a:avLst>
              <a:gd name="adj" fmla="val 12000"/>
            </a:avLst>
          </a:prstGeom>
          <a:solidFill>
            <a:srgbClr val="0B1523">
              <a:alpha val="98000"/>
            </a:srgbClr>
          </a:solidFill>
          <a:ln w="8890">
            <a:solidFill>
              <a:srgbClr val="275277">
                <a:alpha val="7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0080" y="3794760"/>
            <a:ext cx="73152" cy="9144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8680" y="399592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URLs / IDs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68680" y="4389120"/>
            <a:ext cx="24688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DCEFFF"/>
                </a:solidFill>
              </a:rPr>
              <a:t>Acceso a datos de otros usuarios por IDOR.</a:t>
            </a:r>
            <a:endParaRPr lang="en-US" sz="1130" dirty="0"/>
          </a:p>
        </p:txBody>
      </p:sp>
      <p:sp>
        <p:nvSpPr>
          <p:cNvPr id="18" name="Shape 15"/>
          <p:cNvSpPr/>
          <p:nvPr/>
        </p:nvSpPr>
        <p:spPr>
          <a:xfrm>
            <a:off x="640080" y="4983480"/>
            <a:ext cx="2880360" cy="914400"/>
          </a:xfrm>
          <a:prstGeom prst="roundRect">
            <a:avLst>
              <a:gd name="adj" fmla="val 12000"/>
            </a:avLst>
          </a:prstGeom>
          <a:solidFill>
            <a:srgbClr val="0B1523">
              <a:alpha val="98000"/>
            </a:srgbClr>
          </a:solidFill>
          <a:ln w="8890">
            <a:solidFill>
              <a:srgbClr val="275277">
                <a:alpha val="7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0080" y="4983480"/>
            <a:ext cx="73152" cy="914400"/>
          </a:xfrm>
          <a:prstGeom prst="rect">
            <a:avLst/>
          </a:prstGeom>
          <a:solidFill>
            <a:srgbClr val="23C7F5"/>
          </a:solidFill>
          <a:ln w="12700">
            <a:solidFill>
              <a:srgbClr val="23C7F5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8680" y="518464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APIs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68680" y="5577840"/>
            <a:ext cx="24688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DCEFFF"/>
                </a:solidFill>
              </a:rPr>
              <a:t>Endpoints sin auth, errores, fuga de datos.</a:t>
            </a:r>
            <a:endParaRPr lang="en-US" sz="1130" dirty="0"/>
          </a:p>
        </p:txBody>
      </p:sp>
      <p:sp>
        <p:nvSpPr>
          <p:cNvPr id="22" name="Text 19"/>
          <p:cNvSpPr/>
          <p:nvPr/>
        </p:nvSpPr>
        <p:spPr>
          <a:xfrm>
            <a:off x="4160520" y="598932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Cada entrada que recibe datos es una puerta que debe controlarse.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502920" y="6483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B7D8"/>
                </a:solidFill>
              </a:rPr>
              <a:t>Seguridad y Auditoría de Sistemas  •  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E0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APPLICATIONS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OWASP Top 10: referencia para auditoría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201400" cy="0"/>
          </a:xfrm>
          <a:prstGeom prst="line">
            <a:avLst/>
          </a:prstGeom>
          <a:noFill/>
          <a:ln w="9525">
            <a:solidFill>
              <a:srgbClr val="275277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0700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FFF"/>
                </a:solidFill>
              </a:rPr>
              <a:t>OWASP Top 10:2025 identifica los diez riesgos críticos de seguridad en aplicaciones web.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828800"/>
            <a:ext cx="5029200" cy="493776"/>
          </a:xfrm>
          <a:prstGeom prst="roundRect">
            <a:avLst>
              <a:gd name="adj" fmla="val 14815"/>
            </a:avLst>
          </a:prstGeom>
          <a:solidFill>
            <a:srgbClr val="0E2A44"/>
          </a:solidFill>
          <a:ln w="12700">
            <a:solidFill>
              <a:srgbClr val="275277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" y="1911096"/>
            <a:ext cx="658368" cy="329184"/>
          </a:xfrm>
          <a:prstGeom prst="roundRect">
            <a:avLst>
              <a:gd name="adj" fmla="val 16667"/>
            </a:avLst>
          </a:prstGeom>
          <a:solidFill>
            <a:srgbClr val="FF4B4B"/>
          </a:solidFill>
          <a:ln w="12700">
            <a:solidFill>
              <a:srgbClr val="FF4B4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993392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071A2D"/>
                </a:solidFill>
              </a:rPr>
              <a:t>A01</a:t>
            </a:r>
            <a:endParaRPr lang="en-US" sz="760" dirty="0"/>
          </a:p>
        </p:txBody>
      </p:sp>
      <p:sp>
        <p:nvSpPr>
          <p:cNvPr id="9" name="Text 7"/>
          <p:cNvSpPr/>
          <p:nvPr/>
        </p:nvSpPr>
        <p:spPr>
          <a:xfrm>
            <a:off x="1618488" y="1975104"/>
            <a:ext cx="3794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Broken Access Control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2542032"/>
            <a:ext cx="5029200" cy="493776"/>
          </a:xfrm>
          <a:prstGeom prst="roundRect">
            <a:avLst>
              <a:gd name="adj" fmla="val 14815"/>
            </a:avLst>
          </a:prstGeom>
          <a:solidFill>
            <a:srgbClr val="0E2A44"/>
          </a:solidFill>
          <a:ln w="12700">
            <a:solidFill>
              <a:srgbClr val="275277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5528" y="2624328"/>
            <a:ext cx="658368" cy="329184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2706624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071A2D"/>
                </a:solidFill>
              </a:rPr>
              <a:t>A02</a:t>
            </a:r>
            <a:endParaRPr lang="en-US" sz="760" dirty="0"/>
          </a:p>
        </p:txBody>
      </p:sp>
      <p:sp>
        <p:nvSpPr>
          <p:cNvPr id="13" name="Text 11"/>
          <p:cNvSpPr/>
          <p:nvPr/>
        </p:nvSpPr>
        <p:spPr>
          <a:xfrm>
            <a:off x="1618488" y="2688336"/>
            <a:ext cx="3794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Security Misconfiguration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3255264"/>
            <a:ext cx="5029200" cy="493776"/>
          </a:xfrm>
          <a:prstGeom prst="roundRect">
            <a:avLst>
              <a:gd name="adj" fmla="val 14815"/>
            </a:avLst>
          </a:prstGeom>
          <a:solidFill>
            <a:srgbClr val="0E2A44"/>
          </a:solidFill>
          <a:ln w="12700">
            <a:solidFill>
              <a:srgbClr val="275277">
                <a:alpha val="7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" y="3337560"/>
            <a:ext cx="658368" cy="329184"/>
          </a:xfrm>
          <a:prstGeom prst="roundRect">
            <a:avLst>
              <a:gd name="adj" fmla="val 16667"/>
            </a:avLst>
          </a:prstGeom>
          <a:solidFill>
            <a:srgbClr val="FFD166"/>
          </a:solidFill>
          <a:ln w="12700">
            <a:solidFill>
              <a:srgbClr val="FFD16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" y="3419856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071A2D"/>
                </a:solidFill>
              </a:rPr>
              <a:t>A03</a:t>
            </a:r>
            <a:endParaRPr lang="en-US" sz="760" dirty="0"/>
          </a:p>
        </p:txBody>
      </p:sp>
      <p:sp>
        <p:nvSpPr>
          <p:cNvPr id="17" name="Text 15"/>
          <p:cNvSpPr/>
          <p:nvPr/>
        </p:nvSpPr>
        <p:spPr>
          <a:xfrm>
            <a:off x="1618488" y="3401568"/>
            <a:ext cx="3794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Software Supply Chain Failures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5800" y="3968496"/>
            <a:ext cx="5029200" cy="493776"/>
          </a:xfrm>
          <a:prstGeom prst="roundRect">
            <a:avLst>
              <a:gd name="adj" fmla="val 14815"/>
            </a:avLst>
          </a:prstGeom>
          <a:solidFill>
            <a:srgbClr val="0E2A44"/>
          </a:solidFill>
          <a:ln w="12700">
            <a:solidFill>
              <a:srgbClr val="275277">
                <a:alpha val="7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" y="4050792"/>
            <a:ext cx="658368" cy="329184"/>
          </a:xfrm>
          <a:prstGeom prst="roundRect">
            <a:avLst>
              <a:gd name="adj" fmla="val 16667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4133088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071A2D"/>
                </a:solidFill>
              </a:rPr>
              <a:t>A04</a:t>
            </a:r>
            <a:endParaRPr lang="en-US" sz="760" dirty="0"/>
          </a:p>
        </p:txBody>
      </p:sp>
      <p:sp>
        <p:nvSpPr>
          <p:cNvPr id="21" name="Text 19"/>
          <p:cNvSpPr/>
          <p:nvPr/>
        </p:nvSpPr>
        <p:spPr>
          <a:xfrm>
            <a:off x="1618488" y="4114800"/>
            <a:ext cx="3794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Cryptographic Failures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85800" y="4681728"/>
            <a:ext cx="5029200" cy="493776"/>
          </a:xfrm>
          <a:prstGeom prst="roundRect">
            <a:avLst>
              <a:gd name="adj" fmla="val 14815"/>
            </a:avLst>
          </a:prstGeom>
          <a:solidFill>
            <a:srgbClr val="0E2A44"/>
          </a:solidFill>
          <a:ln w="12700">
            <a:solidFill>
              <a:srgbClr val="275277">
                <a:alpha val="7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5528" y="4764024"/>
            <a:ext cx="658368" cy="329184"/>
          </a:xfrm>
          <a:prstGeom prst="roundRect">
            <a:avLst>
              <a:gd name="adj" fmla="val 16667"/>
            </a:avLst>
          </a:prstGeom>
          <a:solidFill>
            <a:srgbClr val="23C7F5"/>
          </a:solidFill>
          <a:ln w="12700">
            <a:solidFill>
              <a:srgbClr val="23C7F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9536" y="4846320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071A2D"/>
                </a:solidFill>
              </a:rPr>
              <a:t>A05</a:t>
            </a:r>
            <a:endParaRPr lang="en-US" sz="760" dirty="0"/>
          </a:p>
        </p:txBody>
      </p:sp>
      <p:sp>
        <p:nvSpPr>
          <p:cNvPr id="25" name="Text 23"/>
          <p:cNvSpPr/>
          <p:nvPr/>
        </p:nvSpPr>
        <p:spPr>
          <a:xfrm>
            <a:off x="1618488" y="4828032"/>
            <a:ext cx="3794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Injection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63640" y="1828800"/>
            <a:ext cx="5029200" cy="493776"/>
          </a:xfrm>
          <a:prstGeom prst="roundRect">
            <a:avLst>
              <a:gd name="adj" fmla="val 14815"/>
            </a:avLst>
          </a:prstGeom>
          <a:solidFill>
            <a:srgbClr val="0E2A44"/>
          </a:solidFill>
          <a:ln w="12700">
            <a:solidFill>
              <a:srgbClr val="275277">
                <a:alpha val="7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73368" y="1911096"/>
            <a:ext cx="658368" cy="329184"/>
          </a:xfrm>
          <a:prstGeom prst="roundRect">
            <a:avLst>
              <a:gd name="adj" fmla="val 16667"/>
            </a:avLst>
          </a:prstGeom>
          <a:solidFill>
            <a:srgbClr val="77D66C"/>
          </a:solidFill>
          <a:ln w="12700">
            <a:solidFill>
              <a:srgbClr val="77D66C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37376" y="1993392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071A2D"/>
                </a:solidFill>
              </a:rPr>
              <a:t>A06</a:t>
            </a:r>
            <a:endParaRPr lang="en-US" sz="760" dirty="0"/>
          </a:p>
        </p:txBody>
      </p:sp>
      <p:sp>
        <p:nvSpPr>
          <p:cNvPr id="29" name="Text 27"/>
          <p:cNvSpPr/>
          <p:nvPr/>
        </p:nvSpPr>
        <p:spPr>
          <a:xfrm>
            <a:off x="7196328" y="1975104"/>
            <a:ext cx="3794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Insecure Design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63640" y="2542032"/>
            <a:ext cx="5029200" cy="493776"/>
          </a:xfrm>
          <a:prstGeom prst="roundRect">
            <a:avLst>
              <a:gd name="adj" fmla="val 14815"/>
            </a:avLst>
          </a:prstGeom>
          <a:solidFill>
            <a:srgbClr val="0E2A44"/>
          </a:solidFill>
          <a:ln w="12700">
            <a:solidFill>
              <a:srgbClr val="275277">
                <a:alpha val="7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73368" y="2624328"/>
            <a:ext cx="658368" cy="329184"/>
          </a:xfrm>
          <a:prstGeom prst="roundRect">
            <a:avLst>
              <a:gd name="adj" fmla="val 16667"/>
            </a:avLst>
          </a:prstGeom>
          <a:solidFill>
            <a:srgbClr val="FF4B4B"/>
          </a:solidFill>
          <a:ln w="12700">
            <a:solidFill>
              <a:srgbClr val="FF4B4B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37376" y="2706624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071A2D"/>
                </a:solidFill>
              </a:rPr>
              <a:t>A07</a:t>
            </a:r>
            <a:endParaRPr lang="en-US" sz="760" dirty="0"/>
          </a:p>
        </p:txBody>
      </p:sp>
      <p:sp>
        <p:nvSpPr>
          <p:cNvPr id="33" name="Text 31"/>
          <p:cNvSpPr/>
          <p:nvPr/>
        </p:nvSpPr>
        <p:spPr>
          <a:xfrm>
            <a:off x="7196328" y="2688336"/>
            <a:ext cx="3794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Authentication Failures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263640" y="3255264"/>
            <a:ext cx="5029200" cy="493776"/>
          </a:xfrm>
          <a:prstGeom prst="roundRect">
            <a:avLst>
              <a:gd name="adj" fmla="val 14815"/>
            </a:avLst>
          </a:prstGeom>
          <a:solidFill>
            <a:srgbClr val="0E2A44"/>
          </a:solidFill>
          <a:ln w="12700">
            <a:solidFill>
              <a:srgbClr val="275277">
                <a:alpha val="7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73368" y="3337560"/>
            <a:ext cx="658368" cy="329184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37376" y="3419856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071A2D"/>
                </a:solidFill>
              </a:rPr>
              <a:t>A08</a:t>
            </a:r>
            <a:endParaRPr lang="en-US" sz="760" dirty="0"/>
          </a:p>
        </p:txBody>
      </p:sp>
      <p:sp>
        <p:nvSpPr>
          <p:cNvPr id="37" name="Text 35"/>
          <p:cNvSpPr/>
          <p:nvPr/>
        </p:nvSpPr>
        <p:spPr>
          <a:xfrm>
            <a:off x="7196328" y="3401568"/>
            <a:ext cx="3794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Software/Data Integrity Failures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263640" y="3968496"/>
            <a:ext cx="5029200" cy="493776"/>
          </a:xfrm>
          <a:prstGeom prst="roundRect">
            <a:avLst>
              <a:gd name="adj" fmla="val 14815"/>
            </a:avLst>
          </a:prstGeom>
          <a:solidFill>
            <a:srgbClr val="0E2A44"/>
          </a:solidFill>
          <a:ln w="12700">
            <a:solidFill>
              <a:srgbClr val="275277">
                <a:alpha val="7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73368" y="4050792"/>
            <a:ext cx="658368" cy="329184"/>
          </a:xfrm>
          <a:prstGeom prst="roundRect">
            <a:avLst>
              <a:gd name="adj" fmla="val 16667"/>
            </a:avLst>
          </a:prstGeom>
          <a:solidFill>
            <a:srgbClr val="FFD166"/>
          </a:solidFill>
          <a:ln w="12700">
            <a:solidFill>
              <a:srgbClr val="FFD166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37376" y="4133088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071A2D"/>
                </a:solidFill>
              </a:rPr>
              <a:t>A09</a:t>
            </a:r>
            <a:endParaRPr lang="en-US" sz="760" dirty="0"/>
          </a:p>
        </p:txBody>
      </p:sp>
      <p:sp>
        <p:nvSpPr>
          <p:cNvPr id="41" name="Text 39"/>
          <p:cNvSpPr/>
          <p:nvPr/>
        </p:nvSpPr>
        <p:spPr>
          <a:xfrm>
            <a:off x="7196328" y="4114800"/>
            <a:ext cx="3794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Security Logging &amp; Alerting Failures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263640" y="4681728"/>
            <a:ext cx="5029200" cy="493776"/>
          </a:xfrm>
          <a:prstGeom prst="roundRect">
            <a:avLst>
              <a:gd name="adj" fmla="val 14815"/>
            </a:avLst>
          </a:prstGeom>
          <a:solidFill>
            <a:srgbClr val="0E2A44"/>
          </a:solidFill>
          <a:ln w="12700">
            <a:solidFill>
              <a:srgbClr val="275277">
                <a:alpha val="7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73368" y="4764024"/>
            <a:ext cx="658368" cy="329184"/>
          </a:xfrm>
          <a:prstGeom prst="roundRect">
            <a:avLst>
              <a:gd name="adj" fmla="val 16667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37376" y="4846320"/>
            <a:ext cx="5303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071A2D"/>
                </a:solidFill>
              </a:rPr>
              <a:t>A10</a:t>
            </a:r>
            <a:endParaRPr lang="en-US" sz="760" dirty="0"/>
          </a:p>
        </p:txBody>
      </p:sp>
      <p:sp>
        <p:nvSpPr>
          <p:cNvPr id="45" name="Text 43"/>
          <p:cNvSpPr/>
          <p:nvPr/>
        </p:nvSpPr>
        <p:spPr>
          <a:xfrm>
            <a:off x="7196328" y="4828032"/>
            <a:ext cx="3794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Mishandling Exceptional Conditions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594360" y="6016752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8FB7D8"/>
                </a:solidFill>
              </a:rPr>
              <a:t>Fuente: OWASP Top 10:2025, consultado el 29/08/2026.</a:t>
            </a:r>
            <a:endParaRPr lang="en-US" sz="730" dirty="0"/>
          </a:p>
        </p:txBody>
      </p:sp>
      <p:sp>
        <p:nvSpPr>
          <p:cNvPr id="47" name="Text 45"/>
          <p:cNvSpPr/>
          <p:nvPr/>
        </p:nvSpPr>
        <p:spPr>
          <a:xfrm>
            <a:off x="502920" y="6483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B7D8"/>
                </a:solidFill>
              </a:rPr>
              <a:t>Seguridad y Auditoría de Sistemas  •  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E0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APPLICATIONS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Vulnerabilidades comunes en web apps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201400" cy="0"/>
          </a:xfrm>
          <a:prstGeom prst="line">
            <a:avLst/>
          </a:prstGeom>
          <a:noFill/>
          <a:ln w="9525">
            <a:solidFill>
              <a:srgbClr val="275277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08760"/>
            <a:ext cx="5212080" cy="1600200"/>
          </a:xfrm>
          <a:prstGeom prst="roundRect">
            <a:avLst>
              <a:gd name="adj" fmla="val 9143"/>
            </a:avLst>
          </a:prstGeom>
          <a:solidFill>
            <a:srgbClr val="0E2A44"/>
          </a:solidFill>
          <a:ln w="15240">
            <a:solidFill>
              <a:srgbClr val="23C7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783080"/>
            <a:ext cx="493776" cy="493776"/>
          </a:xfrm>
          <a:prstGeom prst="ellipse">
            <a:avLst/>
          </a:prstGeom>
          <a:solidFill>
            <a:srgbClr val="23C7F5"/>
          </a:solidFill>
          <a:ln w="12700">
            <a:solidFill>
              <a:srgbClr val="23C7F5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9848" y="1920240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A2D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00200" y="17556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SQL Injection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00200" y="213055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CEFFF"/>
                </a:solidFill>
              </a:rPr>
              <a:t>El atacante manipula consultas a la base de datos.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600200" y="2569464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i="1" dirty="0">
                <a:solidFill>
                  <a:srgbClr val="A3C8E8"/>
                </a:solidFill>
              </a:rPr>
              <a:t>Ej.: login construido con texto concatenado.</a:t>
            </a:r>
            <a:endParaRPr lang="en-US" sz="970" dirty="0"/>
          </a:p>
        </p:txBody>
      </p:sp>
      <p:sp>
        <p:nvSpPr>
          <p:cNvPr id="11" name="Shape 9"/>
          <p:cNvSpPr/>
          <p:nvPr/>
        </p:nvSpPr>
        <p:spPr>
          <a:xfrm>
            <a:off x="6217920" y="1508760"/>
            <a:ext cx="5212080" cy="1600200"/>
          </a:xfrm>
          <a:prstGeom prst="roundRect">
            <a:avLst>
              <a:gd name="adj" fmla="val 9143"/>
            </a:avLst>
          </a:prstGeom>
          <a:solidFill>
            <a:srgbClr val="0E2A44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1783080"/>
            <a:ext cx="493776" cy="49377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01968" y="1920240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A2D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132320" y="17556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XSS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32320" y="213055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CEFFF"/>
                </a:solidFill>
              </a:rPr>
              <a:t>Se ejecuta JavaScript malicioso en el navegador.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132320" y="2569464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i="1" dirty="0">
                <a:solidFill>
                  <a:srgbClr val="A3C8E8"/>
                </a:solidFill>
              </a:rPr>
              <a:t>Ej.: comentario sin escape HTML.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685800" y="3730752"/>
            <a:ext cx="5212080" cy="1600200"/>
          </a:xfrm>
          <a:prstGeom prst="roundRect">
            <a:avLst>
              <a:gd name="adj" fmla="val 9143"/>
            </a:avLst>
          </a:prstGeom>
          <a:solidFill>
            <a:srgbClr val="0E2A44"/>
          </a:solidFill>
          <a:ln w="15240">
            <a:solidFill>
              <a:srgbClr val="FFD1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4005072"/>
            <a:ext cx="493776" cy="493776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9848" y="4142232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A2D"/>
                </a:solidFill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00200" y="39776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IDOR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00200" y="435254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CEFFF"/>
                </a:solidFill>
              </a:rPr>
              <a:t>Un usuario accede a recursos de otro cambiando un ID.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600200" y="4791456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i="1" dirty="0">
                <a:solidFill>
                  <a:srgbClr val="A3C8E8"/>
                </a:solidFill>
              </a:rPr>
              <a:t>Ej.: /profile/2 sin autorización.</a:t>
            </a:r>
            <a:endParaRPr lang="en-US" sz="970" dirty="0"/>
          </a:p>
        </p:txBody>
      </p:sp>
      <p:sp>
        <p:nvSpPr>
          <p:cNvPr id="23" name="Shape 21"/>
          <p:cNvSpPr/>
          <p:nvPr/>
        </p:nvSpPr>
        <p:spPr>
          <a:xfrm>
            <a:off x="6217920" y="3730752"/>
            <a:ext cx="5212080" cy="1600200"/>
          </a:xfrm>
          <a:prstGeom prst="roundRect">
            <a:avLst>
              <a:gd name="adj" fmla="val 9143"/>
            </a:avLst>
          </a:prstGeom>
          <a:solidFill>
            <a:srgbClr val="0E2A44"/>
          </a:solidFill>
          <a:ln w="15240">
            <a:solidFill>
              <a:srgbClr val="77D66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46520" y="4005072"/>
            <a:ext cx="493776" cy="493776"/>
          </a:xfrm>
          <a:prstGeom prst="ellipse">
            <a:avLst/>
          </a:prstGeom>
          <a:solidFill>
            <a:srgbClr val="77D66C"/>
          </a:solidFill>
          <a:ln w="12700">
            <a:solidFill>
              <a:srgbClr val="77D66C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01968" y="4142232"/>
            <a:ext cx="1645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A2D"/>
                </a:solidFill>
              </a:rPr>
              <a:t>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132320" y="39776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CSRF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132320" y="435254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CEFFF"/>
                </a:solidFill>
              </a:rPr>
              <a:t>El navegador envía una acción sin intención del usuario.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132320" y="4791456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i="1" dirty="0">
                <a:solidFill>
                  <a:srgbClr val="A3C8E8"/>
                </a:solidFill>
              </a:rPr>
              <a:t>Ej.: cambiar datos sin token.</a:t>
            </a:r>
            <a:endParaRPr lang="en-US" sz="970" dirty="0"/>
          </a:p>
        </p:txBody>
      </p:sp>
      <p:sp>
        <p:nvSpPr>
          <p:cNvPr id="29" name="Text 27"/>
          <p:cNvSpPr/>
          <p:nvPr/>
        </p:nvSpPr>
        <p:spPr>
          <a:xfrm>
            <a:off x="502920" y="6483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B7D8"/>
                </a:solidFill>
              </a:rPr>
              <a:t>Seguridad y Auditoría de Sistemas  •  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7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E0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APPLICATIONS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Herramientas para una práctica de auditoría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201400" cy="0"/>
          </a:xfrm>
          <a:prstGeom prst="line">
            <a:avLst/>
          </a:prstGeom>
          <a:noFill/>
          <a:ln w="9525">
            <a:solidFill>
              <a:srgbClr val="275277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3444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20" dirty="0">
                <a:solidFill>
                  <a:srgbClr val="DCEFFF"/>
                </a:solidFill>
              </a:rPr>
              <a:t>Puedes trabajar desde Windows + WSL y complementar con una herramienta gráfica como OWASP ZAP.</a:t>
            </a:r>
            <a:endParaRPr lang="en-US" sz="1520" dirty="0"/>
          </a:p>
        </p:txBody>
      </p:sp>
      <p:sp>
        <p:nvSpPr>
          <p:cNvPr id="6" name="Shape 4"/>
          <p:cNvSpPr/>
          <p:nvPr/>
        </p:nvSpPr>
        <p:spPr>
          <a:xfrm>
            <a:off x="868680" y="1965960"/>
            <a:ext cx="2880360" cy="1234440"/>
          </a:xfrm>
          <a:prstGeom prst="roundRect">
            <a:avLst>
              <a:gd name="adj" fmla="val 10370"/>
            </a:avLst>
          </a:prstGeom>
          <a:solidFill>
            <a:srgbClr val="0E2A44"/>
          </a:solidFill>
          <a:ln w="14605">
            <a:solidFill>
              <a:srgbClr val="23C7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9848" y="2221992"/>
            <a:ext cx="566928" cy="566928"/>
          </a:xfrm>
          <a:prstGeom prst="ellipse">
            <a:avLst/>
          </a:prstGeom>
          <a:solidFill>
            <a:srgbClr val="23C7F5"/>
          </a:solidFill>
          <a:ln w="12700">
            <a:solidFill>
              <a:srgbClr val="23C7F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52728" y="2386584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71A2D"/>
                </a:solidFill>
              </a:rPr>
              <a:t>1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1810512" y="222199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WhatWeb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810512" y="26060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3C8E8"/>
                </a:solidFill>
              </a:rPr>
              <a:t>Identifica tecnologías y servidor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4224528" y="1965960"/>
            <a:ext cx="2880360" cy="1234440"/>
          </a:xfrm>
          <a:prstGeom prst="roundRect">
            <a:avLst>
              <a:gd name="adj" fmla="val 10370"/>
            </a:avLst>
          </a:prstGeom>
          <a:solidFill>
            <a:srgbClr val="0E2A44"/>
          </a:solidFill>
          <a:ln w="14605">
            <a:solidFill>
              <a:srgbClr val="27E0B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25696" y="2221992"/>
            <a:ext cx="566928" cy="566928"/>
          </a:xfrm>
          <a:prstGeom prst="ellipse">
            <a:avLst/>
          </a:prstGeom>
          <a:solidFill>
            <a:srgbClr val="27E0B3"/>
          </a:solidFill>
          <a:ln w="12700">
            <a:solidFill>
              <a:srgbClr val="27E0B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08576" y="2386584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71A2D"/>
                </a:solidFill>
              </a:rPr>
              <a:t>2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5166360" y="222199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Nmap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5166360" y="26060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3C8E8"/>
                </a:solidFill>
              </a:rPr>
              <a:t>Enumera puertos y servicios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7580376" y="1965960"/>
            <a:ext cx="2880360" cy="1234440"/>
          </a:xfrm>
          <a:prstGeom prst="roundRect">
            <a:avLst>
              <a:gd name="adj" fmla="val 10370"/>
            </a:avLst>
          </a:prstGeom>
          <a:solidFill>
            <a:srgbClr val="0E2A44"/>
          </a:solidFill>
          <a:ln w="14605">
            <a:solidFill>
              <a:srgbClr val="F973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81544" y="2221992"/>
            <a:ext cx="566928" cy="56692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64424" y="2386584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71A2D"/>
                </a:solidFill>
              </a:rPr>
              <a:t>3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8522208" y="222199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Nikto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522208" y="26060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3C8E8"/>
                </a:solidFill>
              </a:rPr>
              <a:t>Detecta configuraciones débiles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868680" y="4160520"/>
            <a:ext cx="2880360" cy="1234440"/>
          </a:xfrm>
          <a:prstGeom prst="roundRect">
            <a:avLst>
              <a:gd name="adj" fmla="val 10370"/>
            </a:avLst>
          </a:prstGeom>
          <a:solidFill>
            <a:srgbClr val="0E2A44"/>
          </a:solidFill>
          <a:ln w="14605">
            <a:solidFill>
              <a:srgbClr val="FF4B4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9848" y="4416552"/>
            <a:ext cx="566928" cy="566928"/>
          </a:xfrm>
          <a:prstGeom prst="ellipse">
            <a:avLst/>
          </a:prstGeom>
          <a:solidFill>
            <a:srgbClr val="FF4B4B"/>
          </a:solidFill>
          <a:ln w="12700">
            <a:solidFill>
              <a:srgbClr val="FF4B4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52728" y="4581144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71A2D"/>
                </a:solidFill>
              </a:rPr>
              <a:t>4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1810512" y="441655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OWASP ZAP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810512" y="480060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3C8E8"/>
                </a:solidFill>
              </a:rPr>
              <a:t>Analiza vulnerabilidades web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4224528" y="4160520"/>
            <a:ext cx="2880360" cy="1234440"/>
          </a:xfrm>
          <a:prstGeom prst="roundRect">
            <a:avLst>
              <a:gd name="adj" fmla="val 10370"/>
            </a:avLst>
          </a:prstGeom>
          <a:solidFill>
            <a:srgbClr val="0E2A44"/>
          </a:solidFill>
          <a:ln w="14605">
            <a:solidFill>
              <a:srgbClr val="FFD1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25696" y="4416552"/>
            <a:ext cx="566928" cy="56692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08576" y="4581144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71A2D"/>
                </a:solidFill>
              </a:rPr>
              <a:t>5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5166360" y="441655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Scribe / Manual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5166360" y="480060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3C8E8"/>
                </a:solidFill>
              </a:rPr>
              <a:t>Documenta pasos y evidencias</a:t>
            </a:r>
            <a:endParaRPr lang="en-US" sz="940" dirty="0"/>
          </a:p>
        </p:txBody>
      </p:sp>
      <p:sp>
        <p:nvSpPr>
          <p:cNvPr id="31" name="Shape 29"/>
          <p:cNvSpPr/>
          <p:nvPr/>
        </p:nvSpPr>
        <p:spPr>
          <a:xfrm>
            <a:off x="7580376" y="4160520"/>
            <a:ext cx="2880360" cy="1234440"/>
          </a:xfrm>
          <a:prstGeom prst="roundRect">
            <a:avLst>
              <a:gd name="adj" fmla="val 10370"/>
            </a:avLst>
          </a:prstGeom>
          <a:solidFill>
            <a:srgbClr val="0E2A44"/>
          </a:solidFill>
          <a:ln w="14605">
            <a:solidFill>
              <a:srgbClr val="77D66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81544" y="4416552"/>
            <a:ext cx="566928" cy="566928"/>
          </a:xfrm>
          <a:prstGeom prst="ellipse">
            <a:avLst/>
          </a:prstGeom>
          <a:solidFill>
            <a:srgbClr val="77D66C"/>
          </a:solidFill>
          <a:ln w="12700">
            <a:solidFill>
              <a:srgbClr val="77D66C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64424" y="4581144"/>
            <a:ext cx="182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71A2D"/>
                </a:solidFill>
              </a:rPr>
              <a:t>6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8522208" y="441655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QR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8522208" y="480060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A3C8E8"/>
                </a:solidFill>
              </a:rPr>
              <a:t>Comparte el reporte fácilmente</a:t>
            </a:r>
            <a:endParaRPr lang="en-US" sz="940" dirty="0"/>
          </a:p>
        </p:txBody>
      </p:sp>
      <p:sp>
        <p:nvSpPr>
          <p:cNvPr id="36" name="Text 34"/>
          <p:cNvSpPr/>
          <p:nvPr/>
        </p:nvSpPr>
        <p:spPr>
          <a:xfrm>
            <a:off x="502920" y="6483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B7D8"/>
                </a:solidFill>
              </a:rPr>
              <a:t>Seguridad y Auditoría de Sistemas  •  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E0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APPLICATIONS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Laboratorio propuesto: vulnerable vs. segura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201400" cy="0"/>
          </a:xfrm>
          <a:prstGeom prst="line">
            <a:avLst/>
          </a:prstGeom>
          <a:noFill/>
          <a:ln w="9525">
            <a:solidFill>
              <a:srgbClr val="275277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77640" y="2834640"/>
            <a:ext cx="3931920" cy="0"/>
          </a:xfrm>
          <a:prstGeom prst="line">
            <a:avLst/>
          </a:prstGeom>
          <a:noFill/>
          <a:ln w="25400">
            <a:solidFill>
              <a:srgbClr val="27E0B3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909560" y="4160520"/>
            <a:ext cx="-3931920" cy="0"/>
          </a:xfrm>
          <a:prstGeom prst="line">
            <a:avLst/>
          </a:prstGeom>
          <a:noFill/>
          <a:ln w="25400">
            <a:solidFill>
              <a:srgbClr val="70A0C2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31520" y="1444752"/>
            <a:ext cx="3291840" cy="3749040"/>
          </a:xfrm>
          <a:prstGeom prst="roundRect">
            <a:avLst>
              <a:gd name="adj" fmla="val 5000"/>
            </a:avLst>
          </a:prstGeom>
          <a:solidFill>
            <a:srgbClr val="220D12"/>
          </a:solidFill>
          <a:ln w="17780">
            <a:solidFill>
              <a:srgbClr val="FF4B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7373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Versión vulnerable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15568" y="2331720"/>
            <a:ext cx="2560320" cy="1901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FFD6D6"/>
                </a:solidFill>
              </a:rPr>
              <a:t>• SQL Injection
</a:t>
            </a:r>
            <a:pPr indent="0" marL="0">
              <a:buNone/>
            </a:pPr>
            <a:r>
              <a:rPr lang="en-US" sz="1320" dirty="0">
                <a:solidFill>
                  <a:srgbClr val="FFD6D6"/>
                </a:solidFill>
              </a:rPr>
              <a:t>• Stored XSS
</a:t>
            </a:r>
            <a:pPr indent="0" marL="0">
              <a:buNone/>
            </a:pPr>
            <a:r>
              <a:rPr lang="en-US" sz="1320" dirty="0">
                <a:solidFill>
                  <a:srgbClr val="FFD6D6"/>
                </a:solidFill>
              </a:rPr>
              <a:t>• IDOR
</a:t>
            </a:r>
            <a:pPr indent="0" marL="0">
              <a:buNone/>
            </a:pPr>
            <a:r>
              <a:rPr lang="en-US" sz="1320" dirty="0">
                <a:solidFill>
                  <a:srgbClr val="FFD6D6"/>
                </a:solidFill>
              </a:rPr>
              <a:t>• Sin CSRF
</a:t>
            </a:r>
            <a:pPr indent="0" marL="0">
              <a:buNone/>
            </a:pPr>
            <a:r>
              <a:rPr lang="en-US" sz="1320" dirty="0">
                <a:solidFill>
                  <a:srgbClr val="FFD6D6"/>
                </a:solidFill>
              </a:rPr>
              <a:t>• Debug activo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1097280" y="46634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FFA6A6"/>
                </a:solidFill>
              </a:rPr>
              <a:t>Puerto 5000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8183880" y="1444752"/>
            <a:ext cx="3291840" cy="3749040"/>
          </a:xfrm>
          <a:prstGeom prst="roundRect">
            <a:avLst>
              <a:gd name="adj" fmla="val 5000"/>
            </a:avLst>
          </a:prstGeom>
          <a:solidFill>
            <a:srgbClr val="0C2B22"/>
          </a:solidFill>
          <a:ln w="17780">
            <a:solidFill>
              <a:srgbClr val="77D6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173736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Versión segura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549640" y="2331720"/>
            <a:ext cx="2560320" cy="1901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D8FFE4"/>
                </a:solidFill>
              </a:rPr>
              <a:t>• SQL parametrizado
</a:t>
            </a:r>
            <a:pPr indent="0" marL="0">
              <a:buNone/>
            </a:pPr>
            <a:r>
              <a:rPr lang="en-US" sz="1320" dirty="0">
                <a:solidFill>
                  <a:srgbClr val="D8FFE4"/>
                </a:solidFill>
              </a:rPr>
              <a:t>• Hash de passwords
</a:t>
            </a:r>
            <a:pPr indent="0" marL="0">
              <a:buNone/>
            </a:pPr>
            <a:r>
              <a:rPr lang="en-US" sz="1320" dirty="0">
                <a:solidFill>
                  <a:srgbClr val="D8FFE4"/>
                </a:solidFill>
              </a:rPr>
              <a:t>• Escape HTML
</a:t>
            </a:r>
            <a:pPr indent="0" marL="0">
              <a:buNone/>
            </a:pPr>
            <a:r>
              <a:rPr lang="en-US" sz="1320" dirty="0">
                <a:solidFill>
                  <a:srgbClr val="D8FFE4"/>
                </a:solidFill>
              </a:rPr>
              <a:t>• Autorización
</a:t>
            </a:r>
            <a:pPr indent="0" marL="0">
              <a:buNone/>
            </a:pPr>
            <a:r>
              <a:rPr lang="en-US" sz="1320" dirty="0">
                <a:solidFill>
                  <a:srgbClr val="D8FFE4"/>
                </a:solidFill>
              </a:rPr>
              <a:t>• Security headers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8577072" y="46634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B8FBCB"/>
                </a:solidFill>
              </a:rPr>
              <a:t>Puerto 5001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4983480" y="2496312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E0B3"/>
                </a:solidFill>
              </a:rPr>
              <a:t>Auditar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73168" y="381304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B8D2"/>
                </a:solidFill>
              </a:rPr>
              <a:t>Corregir y reanalizar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6483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B7D8"/>
                </a:solidFill>
              </a:rPr>
              <a:t>Seguridad y Auditoría de Sistemas  •  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17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E0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APPLICATIONS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Flujo recomendado para la práctica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201400" cy="0"/>
          </a:xfrm>
          <a:prstGeom prst="line">
            <a:avLst/>
          </a:prstGeom>
          <a:noFill/>
          <a:ln w="9525">
            <a:solidFill>
              <a:srgbClr val="275277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57400" y="3246120"/>
            <a:ext cx="457200" cy="0"/>
          </a:xfrm>
          <a:prstGeom prst="line">
            <a:avLst/>
          </a:prstGeom>
          <a:noFill/>
          <a:ln w="25400">
            <a:solidFill>
              <a:srgbClr val="79D7FF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749040" y="3246120"/>
            <a:ext cx="457200" cy="0"/>
          </a:xfrm>
          <a:prstGeom prst="line">
            <a:avLst/>
          </a:prstGeom>
          <a:noFill/>
          <a:ln w="25400">
            <a:solidFill>
              <a:srgbClr val="79D7FF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440680" y="3246120"/>
            <a:ext cx="457200" cy="0"/>
          </a:xfrm>
          <a:prstGeom prst="line">
            <a:avLst/>
          </a:prstGeom>
          <a:noFill/>
          <a:ln w="25400">
            <a:solidFill>
              <a:srgbClr val="79D7FF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132320" y="3246120"/>
            <a:ext cx="457200" cy="0"/>
          </a:xfrm>
          <a:prstGeom prst="line">
            <a:avLst/>
          </a:prstGeom>
          <a:noFill/>
          <a:ln w="25400">
            <a:solidFill>
              <a:srgbClr val="79D7F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823960" y="3246120"/>
            <a:ext cx="457200" cy="0"/>
          </a:xfrm>
          <a:prstGeom prst="line">
            <a:avLst/>
          </a:prstGeom>
          <a:noFill/>
          <a:ln w="25400">
            <a:solidFill>
              <a:srgbClr val="79D7FF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77240" y="2322576"/>
            <a:ext cx="1280160" cy="1280160"/>
          </a:xfrm>
          <a:prstGeom prst="ellipse">
            <a:avLst/>
          </a:prstGeom>
          <a:solidFill>
            <a:srgbClr val="23C7F5"/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16152" y="265176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71A2D"/>
                </a:solidFill>
              </a:rPr>
              <a:t>1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40080" y="37947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Preparar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12648" y="4133088"/>
            <a:ext cx="1600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A3C8E8"/>
                </a:solidFill>
              </a:rPr>
              <a:t>Levantar ambas apps</a:t>
            </a:r>
            <a:endParaRPr lang="en-US" sz="890" dirty="0"/>
          </a:p>
        </p:txBody>
      </p:sp>
      <p:sp>
        <p:nvSpPr>
          <p:cNvPr id="14" name="Shape 12"/>
          <p:cNvSpPr/>
          <p:nvPr/>
        </p:nvSpPr>
        <p:spPr>
          <a:xfrm>
            <a:off x="2468880" y="2322576"/>
            <a:ext cx="1280160" cy="1280160"/>
          </a:xfrm>
          <a:prstGeom prst="ellipse">
            <a:avLst/>
          </a:prstGeom>
          <a:solidFill>
            <a:srgbClr val="23C7F5"/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07792" y="265176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71A2D"/>
                </a:solidFill>
              </a:rPr>
              <a:t>2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2331720" y="37947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Reconocer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304288" y="4133088"/>
            <a:ext cx="1600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A3C8E8"/>
                </a:solidFill>
              </a:rPr>
              <a:t>WhatWeb / Nmap</a:t>
            </a:r>
            <a:endParaRPr lang="en-US" sz="890" dirty="0"/>
          </a:p>
        </p:txBody>
      </p:sp>
      <p:sp>
        <p:nvSpPr>
          <p:cNvPr id="18" name="Shape 16"/>
          <p:cNvSpPr/>
          <p:nvPr/>
        </p:nvSpPr>
        <p:spPr>
          <a:xfrm>
            <a:off x="4160520" y="2322576"/>
            <a:ext cx="1280160" cy="1280160"/>
          </a:xfrm>
          <a:prstGeom prst="ellipse">
            <a:avLst/>
          </a:prstGeom>
          <a:solidFill>
            <a:srgbClr val="23C7F5"/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99432" y="265176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71A2D"/>
                </a:solidFill>
              </a:rPr>
              <a:t>3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4023360" y="37947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Escanear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995928" y="4133088"/>
            <a:ext cx="1600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A3C8E8"/>
                </a:solidFill>
              </a:rPr>
              <a:t>Nikto / OWASP ZAP</a:t>
            </a:r>
            <a:endParaRPr lang="en-US" sz="890" dirty="0"/>
          </a:p>
        </p:txBody>
      </p:sp>
      <p:sp>
        <p:nvSpPr>
          <p:cNvPr id="22" name="Shape 20"/>
          <p:cNvSpPr/>
          <p:nvPr/>
        </p:nvSpPr>
        <p:spPr>
          <a:xfrm>
            <a:off x="5852160" y="2322576"/>
            <a:ext cx="1280160" cy="1280160"/>
          </a:xfrm>
          <a:prstGeom prst="ellipse">
            <a:avLst/>
          </a:prstGeom>
          <a:solidFill>
            <a:srgbClr val="27E0B3"/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91072" y="265176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71A2D"/>
                </a:solidFill>
              </a:rPr>
              <a:t>4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5715000" y="37947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Evidenciar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687568" y="4133088"/>
            <a:ext cx="1600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A3C8E8"/>
                </a:solidFill>
              </a:rPr>
              <a:t>Capturas y hallazgos</a:t>
            </a:r>
            <a:endParaRPr lang="en-US" sz="890" dirty="0"/>
          </a:p>
        </p:txBody>
      </p:sp>
      <p:sp>
        <p:nvSpPr>
          <p:cNvPr id="26" name="Shape 24"/>
          <p:cNvSpPr/>
          <p:nvPr/>
        </p:nvSpPr>
        <p:spPr>
          <a:xfrm>
            <a:off x="7543800" y="2322576"/>
            <a:ext cx="1280160" cy="1280160"/>
          </a:xfrm>
          <a:prstGeom prst="ellipse">
            <a:avLst/>
          </a:prstGeom>
          <a:solidFill>
            <a:srgbClr val="27E0B3"/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82712" y="265176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71A2D"/>
                </a:solidFill>
              </a:rPr>
              <a:t>5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7406640" y="37947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Corregir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379208" y="4133088"/>
            <a:ext cx="1600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A3C8E8"/>
                </a:solidFill>
              </a:rPr>
              <a:t>Comparar con app segura</a:t>
            </a:r>
            <a:endParaRPr lang="en-US" sz="890" dirty="0"/>
          </a:p>
        </p:txBody>
      </p:sp>
      <p:sp>
        <p:nvSpPr>
          <p:cNvPr id="30" name="Shape 28"/>
          <p:cNvSpPr/>
          <p:nvPr/>
        </p:nvSpPr>
        <p:spPr>
          <a:xfrm>
            <a:off x="9235440" y="2322576"/>
            <a:ext cx="1280160" cy="1280160"/>
          </a:xfrm>
          <a:prstGeom prst="ellipse">
            <a:avLst/>
          </a:prstGeom>
          <a:solidFill>
            <a:srgbClr val="27E0B3"/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74352" y="265176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71A2D"/>
                </a:solidFill>
              </a:rPr>
              <a:t>6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9098280" y="37947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Publicar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9070848" y="4133088"/>
            <a:ext cx="160020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A3C8E8"/>
                </a:solidFill>
              </a:rPr>
              <a:t>Manual + código QR</a:t>
            </a:r>
            <a:endParaRPr lang="en-US" sz="890" dirty="0"/>
          </a:p>
        </p:txBody>
      </p:sp>
      <p:sp>
        <p:nvSpPr>
          <p:cNvPr id="34" name="Text 32"/>
          <p:cNvSpPr/>
          <p:nvPr/>
        </p:nvSpPr>
        <p:spPr>
          <a:xfrm>
            <a:off x="1417320" y="5532120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La clave no es “pasar herramientas”, sino interpretar riesgos y justificar controles.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02920" y="6483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B7D8"/>
                </a:solidFill>
              </a:rPr>
              <a:t>Seguridad y Auditoría de Sistemas  •  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interior_tech_classroom_office_scene_a_mo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532120" cy="6858000"/>
          </a:xfrm>
          <a:prstGeom prst="rect">
            <a:avLst/>
          </a:prstGeom>
          <a:solidFill>
            <a:srgbClr val="041428">
              <a:alpha val="94000"/>
            </a:srgbClr>
          </a:solidFill>
          <a:ln w="12700">
            <a:solidFill>
              <a:srgbClr val="041428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2286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E0B3"/>
                </a:solidFill>
              </a:rPr>
              <a:t>WEB APPLICATIONS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502920" y="43891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Entrega del manual con QR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02920" y="1024128"/>
            <a:ext cx="4572000" cy="0"/>
          </a:xfrm>
          <a:prstGeom prst="line">
            <a:avLst/>
          </a:prstGeom>
          <a:noFill/>
          <a:ln w="9525">
            <a:solidFill>
              <a:srgbClr val="275277">
                <a:alpha val="8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1508760"/>
            <a:ext cx="4434840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DCEFFF"/>
                </a:solidFill>
              </a:rPr>
              <a:t>• Registrar el proceso con capturas claras.
</a:t>
            </a:r>
            <a:pPr indent="0" marL="0">
              <a:buNone/>
            </a:pPr>
            <a:r>
              <a:rPr lang="en-US" sz="1550" dirty="0">
                <a:solidFill>
                  <a:srgbClr val="DCEFFF"/>
                </a:solidFill>
              </a:rPr>
              <a:t>• Explicar cada herramienta y cada hallazgo.
</a:t>
            </a:r>
            <a:pPr indent="0" marL="0">
              <a:buNone/>
            </a:pPr>
            <a:r>
              <a:rPr lang="en-US" sz="1550" dirty="0">
                <a:solidFill>
                  <a:srgbClr val="DCEFFF"/>
                </a:solidFill>
              </a:rPr>
              <a:t>• Subir el manual o publicarlo en una guía compartible.
</a:t>
            </a:r>
            <a:pPr indent="0" marL="0">
              <a:buNone/>
            </a:pPr>
            <a:r>
              <a:rPr lang="en-US" sz="1550" dirty="0">
                <a:solidFill>
                  <a:srgbClr val="DCEFFF"/>
                </a:solidFill>
              </a:rPr>
              <a:t>• Convertir el enlace final en código QR.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1143000" y="4251960"/>
            <a:ext cx="1874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27E0B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417320" y="4590288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71A2D"/>
                </a:solidFill>
              </a:rPr>
              <a:t>QR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3291840" y="46177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QR del manual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291840" y="497433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3C8E8"/>
                </a:solidFill>
              </a:rPr>
              <a:t>Escaneo → guía → evidencia → conclusiones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02920" y="6483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B7D8"/>
                </a:solidFill>
              </a:rPr>
              <a:t>Seguridad y Auditoría de Sistemas  •  10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E0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APPLICATIONS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Buenas prácticas para cerrar la auditoría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201400" cy="0"/>
          </a:xfrm>
          <a:prstGeom prst="line">
            <a:avLst/>
          </a:prstGeom>
          <a:noFill/>
          <a:ln w="9525">
            <a:solidFill>
              <a:srgbClr val="275277">
                <a:alpha val="80000"/>
              </a:srgbClr>
            </a:solidFill>
            <a:prstDash val="solid"/>
          </a:ln>
        </p:spPr>
      </p:sp>
      <p:pic>
        <p:nvPicPr>
          <p:cNvPr id="5" name="Image 0" descr="/mnt/data/a_wide_high_resolution_digital_illustration_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1298448"/>
            <a:ext cx="4663440" cy="3520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" y="1344168"/>
            <a:ext cx="329184" cy="329184"/>
          </a:xfrm>
          <a:prstGeom prst="ellipse">
            <a:avLst/>
          </a:prstGeom>
          <a:solidFill>
            <a:srgbClr val="27E0B3"/>
          </a:solidFill>
          <a:ln w="12700">
            <a:solidFill>
              <a:srgbClr val="27E0B3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7824" y="1435608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71A2D"/>
                </a:solidFill>
              </a:rPr>
              <a:t>1</a:t>
            </a:r>
            <a:endParaRPr lang="en-US" sz="680" dirty="0"/>
          </a:p>
        </p:txBody>
      </p:sp>
      <p:sp>
        <p:nvSpPr>
          <p:cNvPr id="8" name="Text 5"/>
          <p:cNvSpPr/>
          <p:nvPr/>
        </p:nvSpPr>
        <p:spPr>
          <a:xfrm>
            <a:off x="1261872" y="13258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Validar entradas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261872" y="1618488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A3C8E8"/>
                </a:solidFill>
              </a:rPr>
              <a:t>Nunca confiar en datos del usuario.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777240" y="2148840"/>
            <a:ext cx="329184" cy="329184"/>
          </a:xfrm>
          <a:prstGeom prst="ellipse">
            <a:avLst/>
          </a:prstGeom>
          <a:solidFill>
            <a:srgbClr val="27E0B3"/>
          </a:solidFill>
          <a:ln w="12700">
            <a:solidFill>
              <a:srgbClr val="27E0B3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7824" y="2240280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71A2D"/>
                </a:solidFill>
              </a:rPr>
              <a:t>2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1261872" y="21305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Controlar acceso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1261872" y="2423160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A3C8E8"/>
                </a:solidFill>
              </a:rPr>
              <a:t>Autorizar cada acción sensible.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777240" y="2953512"/>
            <a:ext cx="329184" cy="329184"/>
          </a:xfrm>
          <a:prstGeom prst="ellipse">
            <a:avLst/>
          </a:prstGeom>
          <a:solidFill>
            <a:srgbClr val="27E0B3"/>
          </a:solidFill>
          <a:ln w="12700">
            <a:solidFill>
              <a:srgbClr val="27E0B3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77824" y="3044952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71A2D"/>
                </a:solidFill>
              </a:rPr>
              <a:t>3</a:t>
            </a:r>
            <a:endParaRPr lang="en-US" sz="680" dirty="0"/>
          </a:p>
        </p:txBody>
      </p:sp>
      <p:sp>
        <p:nvSpPr>
          <p:cNvPr id="16" name="Text 13"/>
          <p:cNvSpPr/>
          <p:nvPr/>
        </p:nvSpPr>
        <p:spPr>
          <a:xfrm>
            <a:off x="1261872" y="293522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Proteger sesiones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1261872" y="3227832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A3C8E8"/>
                </a:solidFill>
              </a:rPr>
              <a:t>Cookies seguras, CSRF y expiración.</a:t>
            </a:r>
            <a:endParaRPr lang="en-US" sz="1080" dirty="0"/>
          </a:p>
        </p:txBody>
      </p:sp>
      <p:sp>
        <p:nvSpPr>
          <p:cNvPr id="18" name="Shape 15"/>
          <p:cNvSpPr/>
          <p:nvPr/>
        </p:nvSpPr>
        <p:spPr>
          <a:xfrm>
            <a:off x="777240" y="3758184"/>
            <a:ext cx="329184" cy="329184"/>
          </a:xfrm>
          <a:prstGeom prst="ellipse">
            <a:avLst/>
          </a:prstGeom>
          <a:solidFill>
            <a:srgbClr val="27E0B3"/>
          </a:solidFill>
          <a:ln w="12700">
            <a:solidFill>
              <a:srgbClr val="27E0B3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77824" y="3849624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71A2D"/>
                </a:solidFill>
              </a:rPr>
              <a:t>4</a:t>
            </a:r>
            <a:endParaRPr lang="en-US" sz="680" dirty="0"/>
          </a:p>
        </p:txBody>
      </p:sp>
      <p:sp>
        <p:nvSpPr>
          <p:cNvPr id="20" name="Text 17"/>
          <p:cNvSpPr/>
          <p:nvPr/>
        </p:nvSpPr>
        <p:spPr>
          <a:xfrm>
            <a:off x="1261872" y="37398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Registrar eventos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1261872" y="4032504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A3C8E8"/>
                </a:solidFill>
              </a:rPr>
              <a:t>Logs útiles y alertas de seguridad.</a:t>
            </a:r>
            <a:endParaRPr lang="en-US" sz="1080" dirty="0"/>
          </a:p>
        </p:txBody>
      </p:sp>
      <p:sp>
        <p:nvSpPr>
          <p:cNvPr id="22" name="Shape 19"/>
          <p:cNvSpPr/>
          <p:nvPr/>
        </p:nvSpPr>
        <p:spPr>
          <a:xfrm>
            <a:off x="777240" y="4562856"/>
            <a:ext cx="329184" cy="329184"/>
          </a:xfrm>
          <a:prstGeom prst="ellipse">
            <a:avLst/>
          </a:prstGeom>
          <a:solidFill>
            <a:srgbClr val="27E0B3"/>
          </a:solidFill>
          <a:ln w="12700">
            <a:solidFill>
              <a:srgbClr val="27E0B3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77824" y="4654296"/>
            <a:ext cx="1097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71A2D"/>
                </a:solidFill>
              </a:rPr>
              <a:t>5</a:t>
            </a:r>
            <a:endParaRPr lang="en-US" sz="680" dirty="0"/>
          </a:p>
        </p:txBody>
      </p:sp>
      <p:sp>
        <p:nvSpPr>
          <p:cNvPr id="24" name="Text 21"/>
          <p:cNvSpPr/>
          <p:nvPr/>
        </p:nvSpPr>
        <p:spPr>
          <a:xfrm>
            <a:off x="1261872" y="45445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Reanalizar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1261872" y="4837176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A3C8E8"/>
                </a:solidFill>
              </a:rPr>
              <a:t>Verificar que la corrección sí funcione.</a:t>
            </a:r>
            <a:endParaRPr lang="en-US" sz="1080" dirty="0"/>
          </a:p>
        </p:txBody>
      </p:sp>
      <p:sp>
        <p:nvSpPr>
          <p:cNvPr id="26" name="Shape 23"/>
          <p:cNvSpPr/>
          <p:nvPr/>
        </p:nvSpPr>
        <p:spPr>
          <a:xfrm>
            <a:off x="6995160" y="5074920"/>
            <a:ext cx="4297680" cy="749808"/>
          </a:xfrm>
          <a:prstGeom prst="roundRect">
            <a:avLst>
              <a:gd name="adj" fmla="val 17073"/>
            </a:avLst>
          </a:prstGeom>
          <a:solidFill>
            <a:srgbClr val="0E2A44"/>
          </a:solidFill>
          <a:ln w="12700">
            <a:solidFill>
              <a:srgbClr val="27E0B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269480" y="5321808"/>
            <a:ext cx="3749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Conclusión: diseñar, probar, corregir y volver a probar.</a:t>
            </a:r>
            <a:endParaRPr lang="en-US" sz="1260" dirty="0"/>
          </a:p>
        </p:txBody>
      </p:sp>
      <p:sp>
        <p:nvSpPr>
          <p:cNvPr id="28" name="Text 25"/>
          <p:cNvSpPr/>
          <p:nvPr/>
        </p:nvSpPr>
        <p:spPr>
          <a:xfrm>
            <a:off x="502920" y="6483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B7D8"/>
                </a:solidFill>
              </a:rPr>
              <a:t>Seguridad y Auditoría de Sistemas  •  11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4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7E0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APPLICATIONS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Referencias y cierre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201400" cy="0"/>
          </a:xfrm>
          <a:prstGeom prst="line">
            <a:avLst/>
          </a:prstGeom>
          <a:noFill/>
          <a:ln w="9525">
            <a:solidFill>
              <a:srgbClr val="275277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5349240" cy="3383280"/>
          </a:xfrm>
          <a:prstGeom prst="roundRect">
            <a:avLst>
              <a:gd name="adj" fmla="val 4865"/>
            </a:avLst>
          </a:prstGeom>
          <a:solidFill>
            <a:srgbClr val="0E2A44"/>
          </a:solidFill>
          <a:ln w="12700">
            <a:solidFill>
              <a:srgbClr val="27E0B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783080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Fuentes base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2331720"/>
            <a:ext cx="443484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DCEFFF"/>
                </a:solidFill>
              </a:rPr>
              <a:t>• OWASP Top 10:2025 — riesgos críticos de seguridad web.
</a:t>
            </a:r>
            <a:pPr indent="0" marL="0">
              <a:buNone/>
            </a:pPr>
            <a:r>
              <a:rPr lang="en-US" sz="1220" dirty="0">
                <a:solidFill>
                  <a:srgbClr val="DCEFFF"/>
                </a:solidFill>
              </a:rPr>
              <a:t>• Documentación de herramientas de auditoría web: ZAP, Nikto, Nmap y WhatWeb.
</a:t>
            </a:r>
            <a:pPr indent="0" marL="0">
              <a:buNone/>
            </a:pPr>
            <a:r>
              <a:rPr lang="en-US" sz="1220" dirty="0">
                <a:solidFill>
                  <a:srgbClr val="DCEFFF"/>
                </a:solidFill>
              </a:rPr>
              <a:t>• Laboratorio local: aplicación vulnerable y versión segura para comparación.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6400800" y="1417320"/>
            <a:ext cx="4937760" cy="338328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23C7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20840" y="178308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</a:rPr>
              <a:t>Idea central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720840" y="2395728"/>
            <a:ext cx="425196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33"/>
                </a:solidFill>
              </a:rPr>
              <a:t>Auditar una web app significa encontrar evidencia, explicar el riesgo y proponer controles verificables.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720840" y="4005072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4C8C"/>
                </a:solidFill>
              </a:rPr>
              <a:t>Fin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" y="6483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B7D8"/>
                </a:solidFill>
              </a:rPr>
              <a:t>Seguridad y Auditoría de Sistemas  •  12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Applications: Seguridad y Auditoría</dc:title>
  <dc:subject>Seguridad de Aplicaciones Web</dc:subject>
  <dc:creator>OpenAI</dc:creator>
  <cp:lastModifiedBy>OpenAI</cp:lastModifiedBy>
  <cp:revision>1</cp:revision>
  <dcterms:created xsi:type="dcterms:W3CDTF">2026-08-29T07:29:46Z</dcterms:created>
  <dcterms:modified xsi:type="dcterms:W3CDTF">2026-08-29T07:29:46Z</dcterms:modified>
</cp:coreProperties>
</file>